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0" d="100"/>
          <a:sy n="70" d="100"/>
        </p:scale>
        <p:origin x="3240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othando\Data%20Analyst\Bright%20coffee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Total sales by products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Sheet1!$B$7</c:f>
              <c:strCache>
                <c:ptCount val="1"/>
                <c:pt idx="0">
                  <c:v>Sum of REVENUE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Lbl>
              <c:idx val="4"/>
              <c:layout>
                <c:manualLayout>
                  <c:x val="0"/>
                  <c:y val="-3.302949173222407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2.6615583375166202E-2"/>
                  <c:y val="-3.774799055111323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1.4194977800088607E-2"/>
                  <c:y val="-4.7184988188892401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1.0646233350066455E-2"/>
                  <c:y val="-1.887399527555670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Sheet1!$A$8:$A$17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Sheet1!$B$8:$B$17</c:f>
              <c:numCache>
                <c:formatCode>_("$"* #,##0.00_);_("$"* \(#,##0.00\);_("$"* "-"??_);_(@_)</c:formatCode>
                <c:ptCount val="9"/>
                <c:pt idx="0">
                  <c:v>82315.640000000072</c:v>
                </c:pt>
                <c:pt idx="1">
                  <c:v>13607</c:v>
                </c:pt>
                <c:pt idx="2">
                  <c:v>269952.45000001288</c:v>
                </c:pt>
                <c:pt idx="3">
                  <c:v>40085.249999999956</c:v>
                </c:pt>
                <c:pt idx="4">
                  <c:v>72416</c:v>
                </c:pt>
                <c:pt idx="5">
                  <c:v>8408.8000000003904</c:v>
                </c:pt>
                <c:pt idx="6">
                  <c:v>11213.600000000073</c:v>
                </c:pt>
                <c:pt idx="7">
                  <c:v>4407.6399999999931</c:v>
                </c:pt>
                <c:pt idx="8">
                  <c:v>196405.95000000519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-328482768"/>
        <c:axId val="-328482224"/>
      </c:barChart>
      <c:catAx>
        <c:axId val="-32848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328482224"/>
        <c:crosses val="autoZero"/>
        <c:auto val="1"/>
        <c:lblAlgn val="ctr"/>
        <c:lblOffset val="100"/>
        <c:noMultiLvlLbl val="0"/>
      </c:catAx>
      <c:valAx>
        <c:axId val="-328482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.00_);_(&quot;$&quot;* \(#,##0.00\);_(&quot;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3284827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Total</a:t>
            </a:r>
            <a:r>
              <a:rPr lang="en-US" baseline="0" dirty="0" smtClean="0"/>
              <a:t> sales by months and products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Sheet1!$K$1</c:f>
              <c:strCache>
                <c:ptCount val="1"/>
                <c:pt idx="0">
                  <c:v>Jan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Sheet1!$J$2:$J$11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Sheet1!$K$2:$K$11</c:f>
              <c:numCache>
                <c:formatCode>_("$"* #,##0_);_("$"* \(#,##0\);_("$"* "-"??_);_(@_)</c:formatCode>
                <c:ptCount val="9"/>
                <c:pt idx="0">
                  <c:v>9535.7499999999982</c:v>
                </c:pt>
                <c:pt idx="1">
                  <c:v>1890</c:v>
                </c:pt>
                <c:pt idx="2">
                  <c:v>31256.850000000322</c:v>
                </c:pt>
                <c:pt idx="3">
                  <c:v>5245.2499999999973</c:v>
                </c:pt>
                <c:pt idx="4">
                  <c:v>8337.75</c:v>
                </c:pt>
                <c:pt idx="5">
                  <c:v>974.40000000000066</c:v>
                </c:pt>
                <c:pt idx="6">
                  <c:v>1293.850000000002</c:v>
                </c:pt>
                <c:pt idx="7">
                  <c:v>521.93999999999983</c:v>
                </c:pt>
                <c:pt idx="8">
                  <c:v>22621.949999999935</c:v>
                </c:pt>
              </c:numCache>
            </c:numRef>
          </c:val>
        </c:ser>
        <c:ser>
          <c:idx val="1"/>
          <c:order val="1"/>
          <c:tx>
            <c:strRef>
              <c:f>Sheet1!$L$1</c:f>
              <c:strCache>
                <c:ptCount val="1"/>
                <c:pt idx="0">
                  <c:v>Feb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Sheet1!$J$2:$J$11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Sheet1!$L$2:$L$11</c:f>
              <c:numCache>
                <c:formatCode>_("$"* #,##0_);_("$"* \(#,##0\);_("$"* "-"??_);_(@_)</c:formatCode>
                <c:ptCount val="9"/>
                <c:pt idx="0">
                  <c:v>9038.8199999999979</c:v>
                </c:pt>
                <c:pt idx="1">
                  <c:v>1235</c:v>
                </c:pt>
                <c:pt idx="2">
                  <c:v>29268.950000000281</c:v>
                </c:pt>
                <c:pt idx="3">
                  <c:v>4077.4999999999982</c:v>
                </c:pt>
                <c:pt idx="4">
                  <c:v>8132.25</c:v>
                </c:pt>
                <c:pt idx="5">
                  <c:v>930.40000000000032</c:v>
                </c:pt>
                <c:pt idx="6">
                  <c:v>1277.8500000000026</c:v>
                </c:pt>
                <c:pt idx="7">
                  <c:v>451.02000000000004</c:v>
                </c:pt>
                <c:pt idx="8">
                  <c:v>21733.399999999954</c:v>
                </c:pt>
              </c:numCache>
            </c:numRef>
          </c:val>
        </c:ser>
        <c:ser>
          <c:idx val="2"/>
          <c:order val="2"/>
          <c:tx>
            <c:strRef>
              <c:f>Sheet1!$M$1</c:f>
              <c:strCache>
                <c:ptCount val="1"/>
                <c:pt idx="0">
                  <c:v>Mar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Sheet1!$J$2:$J$11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Sheet1!$M$2:$M$11</c:f>
              <c:numCache>
                <c:formatCode>_("$"* #,##0_);_("$"* \(#,##0\);_("$"* "-"??_);_(@_)</c:formatCode>
                <c:ptCount val="9"/>
                <c:pt idx="0">
                  <c:v>11902.579999999994</c:v>
                </c:pt>
                <c:pt idx="1">
                  <c:v>1801</c:v>
                </c:pt>
                <c:pt idx="2">
                  <c:v>38303.600000000108</c:v>
                </c:pt>
                <c:pt idx="3">
                  <c:v>5256.2</c:v>
                </c:pt>
                <c:pt idx="4">
                  <c:v>10253.5</c:v>
                </c:pt>
                <c:pt idx="5">
                  <c:v>1171.9999999999964</c:v>
                </c:pt>
                <c:pt idx="6">
                  <c:v>1646.9500000000035</c:v>
                </c:pt>
                <c:pt idx="7">
                  <c:v>588.19999999999982</c:v>
                </c:pt>
                <c:pt idx="8">
                  <c:v>27910.649999999889</c:v>
                </c:pt>
              </c:numCache>
            </c:numRef>
          </c:val>
        </c:ser>
        <c:ser>
          <c:idx val="3"/>
          <c:order val="3"/>
          <c:tx>
            <c:strRef>
              <c:f>Sheet1!$N$1</c:f>
              <c:strCache>
                <c:ptCount val="1"/>
                <c:pt idx="0">
                  <c:v>Apr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Sheet1!$J$2:$J$11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Sheet1!$N$2:$N$11</c:f>
              <c:numCache>
                <c:formatCode>_("$"* #,##0_);_("$"* \(#,##0\);_("$"* "-"??_);_(@_)</c:formatCode>
                <c:ptCount val="9"/>
                <c:pt idx="0">
                  <c:v>14021.699999999993</c:v>
                </c:pt>
                <c:pt idx="1">
                  <c:v>2379</c:v>
                </c:pt>
                <c:pt idx="2">
                  <c:v>45971.19999999991</c:v>
                </c:pt>
                <c:pt idx="3">
                  <c:v>6824.6999999999971</c:v>
                </c:pt>
                <c:pt idx="4">
                  <c:v>12266.75</c:v>
                </c:pt>
                <c:pt idx="5">
                  <c:v>1418.3999999999894</c:v>
                </c:pt>
                <c:pt idx="6">
                  <c:v>1829.1500000000042</c:v>
                </c:pt>
                <c:pt idx="7">
                  <c:v>873.2300000000007</c:v>
                </c:pt>
                <c:pt idx="8">
                  <c:v>33356.949999999844</c:v>
                </c:pt>
              </c:numCache>
            </c:numRef>
          </c:val>
        </c:ser>
        <c:ser>
          <c:idx val="4"/>
          <c:order val="4"/>
          <c:tx>
            <c:strRef>
              <c:f>Sheet1!$O$1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Sheet1!$J$2:$J$11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Sheet1!$O$2:$O$11</c:f>
              <c:numCache>
                <c:formatCode>_("$"* #,##0_);_("$"* \(#,##0\);_("$"* "-"??_);_(@_)</c:formatCode>
                <c:ptCount val="9"/>
                <c:pt idx="0">
                  <c:v>18565.519999999986</c:v>
                </c:pt>
                <c:pt idx="1">
                  <c:v>2889</c:v>
                </c:pt>
                <c:pt idx="2">
                  <c:v>60362.849999999504</c:v>
                </c:pt>
                <c:pt idx="3">
                  <c:v>8768.9499999999971</c:v>
                </c:pt>
                <c:pt idx="4">
                  <c:v>16319.75</c:v>
                </c:pt>
                <c:pt idx="5">
                  <c:v>1905.599999999979</c:v>
                </c:pt>
                <c:pt idx="6">
                  <c:v>2395.1500000000015</c:v>
                </c:pt>
                <c:pt idx="7">
                  <c:v>981.09000000000083</c:v>
                </c:pt>
                <c:pt idx="8">
                  <c:v>44539.849999999744</c:v>
                </c:pt>
              </c:numCache>
            </c:numRef>
          </c:val>
        </c:ser>
        <c:ser>
          <c:idx val="5"/>
          <c:order val="5"/>
          <c:tx>
            <c:strRef>
              <c:f>Sheet1!$P$1</c:f>
              <c:strCache>
                <c:ptCount val="1"/>
                <c:pt idx="0">
                  <c:v>Jun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Sheet1!$J$2:$J$11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Sheet1!$P$2:$P$11</c:f>
              <c:numCache>
                <c:formatCode>_("$"* #,##0_);_("$"* \(#,##0\);_("$"* "-"??_);_(@_)</c:formatCode>
                <c:ptCount val="9"/>
                <c:pt idx="0">
                  <c:v>19251.26999999999</c:v>
                </c:pt>
                <c:pt idx="1">
                  <c:v>3413</c:v>
                </c:pt>
                <c:pt idx="2">
                  <c:v>64788.999999999563</c:v>
                </c:pt>
                <c:pt idx="3">
                  <c:v>9912.6500000000033</c:v>
                </c:pt>
                <c:pt idx="4">
                  <c:v>17106</c:v>
                </c:pt>
                <c:pt idx="5">
                  <c:v>2007.9999999999786</c:v>
                </c:pt>
                <c:pt idx="6">
                  <c:v>2770.6499999999946</c:v>
                </c:pt>
                <c:pt idx="7">
                  <c:v>992.16000000000076</c:v>
                </c:pt>
                <c:pt idx="8">
                  <c:v>46243.149999999718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328492560"/>
        <c:axId val="-328490928"/>
        <c:extLst>
          <c:ext xmlns:c15="http://schemas.microsoft.com/office/drawing/2012/chart" uri="{02D57815-91ED-43cb-92C2-25804820EDAC}">
            <c15:filteredBarSeries>
              <c15:ser>
                <c:idx val="6"/>
                <c:order val="6"/>
                <c:tx>
                  <c:strRef>
                    <c:extLst>
                      <c:ext uri="{02D57815-91ED-43cb-92C2-25804820EDAC}">
                        <c15:formulaRef>
                          <c15:sqref>Sheet1!$Q$1</c15:sqref>
                        </c15:formulaRef>
                      </c:ext>
                    </c:extLst>
                    <c:strCache>
                      <c:ptCount val="1"/>
                      <c:pt idx="0">
                        <c:v>Grand Total</c:v>
                      </c:pt>
                    </c:strCache>
                  </c:strRef>
                </c:tx>
                <c:spPr>
                  <a:solidFill>
                    <a:schemeClr val="accent1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Sheet1!$J$2:$J$11</c15:sqref>
                        </c15:formulaRef>
                      </c:ext>
                    </c:extLst>
                    <c:strCache>
                      <c:ptCount val="9"/>
                      <c:pt idx="0">
                        <c:v>Bakery</c:v>
                      </c:pt>
                      <c:pt idx="1">
                        <c:v>Branded</c:v>
                      </c:pt>
                      <c:pt idx="2">
                        <c:v>Coffee</c:v>
                      </c:pt>
                      <c:pt idx="3">
                        <c:v>Coffee beans</c:v>
                      </c:pt>
                      <c:pt idx="4">
                        <c:v>Drinking Chocolate</c:v>
                      </c:pt>
                      <c:pt idx="5">
                        <c:v>Flavours</c:v>
                      </c:pt>
                      <c:pt idx="6">
                        <c:v>Loose Tea</c:v>
                      </c:pt>
                      <c:pt idx="7">
                        <c:v>Packaged Chocolate</c:v>
                      </c:pt>
                      <c:pt idx="8">
                        <c:v>Tea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Sheet1!$Q$2:$Q$11</c15:sqref>
                        </c15:formulaRef>
                      </c:ext>
                    </c:extLst>
                    <c:numCache>
                      <c:formatCode>_("$"* #,##0_);_("$"* \(#,##0\);_("$"* "-"??_);_(@_)</c:formatCode>
                      <c:ptCount val="9"/>
                      <c:pt idx="0">
                        <c:v>82315.639999999956</c:v>
                      </c:pt>
                      <c:pt idx="1">
                        <c:v>13607</c:v>
                      </c:pt>
                      <c:pt idx="2">
                        <c:v>269952.44999999972</c:v>
                      </c:pt>
                      <c:pt idx="3">
                        <c:v>40085.249999999993</c:v>
                      </c:pt>
                      <c:pt idx="4">
                        <c:v>72416</c:v>
                      </c:pt>
                      <c:pt idx="5">
                        <c:v>8408.7999999999447</c:v>
                      </c:pt>
                      <c:pt idx="6">
                        <c:v>11213.600000000008</c:v>
                      </c:pt>
                      <c:pt idx="7">
                        <c:v>4407.6400000000021</c:v>
                      </c:pt>
                      <c:pt idx="8">
                        <c:v>196405.94999999908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328492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328490928"/>
        <c:crosses val="autoZero"/>
        <c:auto val="1"/>
        <c:lblAlgn val="ctr"/>
        <c:lblOffset val="100"/>
        <c:noMultiLvlLbl val="0"/>
      </c:catAx>
      <c:valAx>
        <c:axId val="-3284909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&quot;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3284925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Total</a:t>
            </a:r>
            <a:r>
              <a:rPr lang="en-US" baseline="0" dirty="0" smtClean="0"/>
              <a:t> revenue produced according to the time and store location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extLst>
                <c:ext xmlns:c15="http://schemas.microsoft.com/office/drawing/2012/chart" uri="{02D57815-91ED-43cb-92C2-25804820EDAC}">
                  <c15:fullRef>
                    <c15:sqref>Sheet1!$A$9:$A$12</c15:sqref>
                  </c15:fullRef>
                </c:ext>
              </c:extLst>
              <c:f>Sheet1!$A$9:$A$11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Sheet1!$B$9:$B$12</c15:sqref>
                  </c15:fullRef>
                </c:ext>
              </c:extLst>
              <c:f>Sheet1!$B$9:$B$11</c:f>
              <c:numCache>
                <c:formatCode>_("$"* #,##0_);_("$"* \(#,##0\);_("$"* "-"??_);_(@_)</c:formatCode>
                <c:ptCount val="3"/>
                <c:pt idx="0">
                  <c:v>78567.139999999548</c:v>
                </c:pt>
                <c:pt idx="1">
                  <c:v>48734.249999999818</c:v>
                </c:pt>
                <c:pt idx="2">
                  <c:v>104942.51999999963</c:v>
                </c:pt>
              </c:numCache>
            </c:numRef>
          </c:val>
        </c:ser>
        <c:ser>
          <c:idx val="1"/>
          <c:order val="1"/>
          <c:tx>
            <c:strRef>
              <c:f>Sheet1!$C$8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extLst>
                <c:ext xmlns:c15="http://schemas.microsoft.com/office/drawing/2012/chart" uri="{02D57815-91ED-43cb-92C2-25804820EDAC}">
                  <c15:fullRef>
                    <c15:sqref>Sheet1!$A$9:$A$12</c15:sqref>
                  </c15:fullRef>
                </c:ext>
              </c:extLst>
              <c:f>Sheet1!$A$9:$A$11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Sheet1!$C$9:$C$12</c15:sqref>
                  </c15:fullRef>
                </c:ext>
              </c:extLst>
              <c:f>Sheet1!$C$9:$C$11</c:f>
              <c:numCache>
                <c:formatCode>_("$"* #,##0_);_("$"* \(#,##0\);_("$"* "-"??_);_(@_)</c:formatCode>
                <c:ptCount val="3"/>
                <c:pt idx="0">
                  <c:v>59012.429999999411</c:v>
                </c:pt>
                <c:pt idx="1">
                  <c:v>38055.4399999999</c:v>
                </c:pt>
                <c:pt idx="2">
                  <c:v>139443.3000000008</c:v>
                </c:pt>
              </c:numCache>
            </c:numRef>
          </c:val>
        </c:ser>
        <c:ser>
          <c:idx val="2"/>
          <c:order val="2"/>
          <c:tx>
            <c:strRef>
              <c:f>Sheet1!$D$8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extLst>
                <c:ext xmlns:c15="http://schemas.microsoft.com/office/drawing/2012/chart" uri="{02D57815-91ED-43cb-92C2-25804820EDAC}">
                  <c15:fullRef>
                    <c15:sqref>Sheet1!$A$9:$A$12</c15:sqref>
                  </c15:fullRef>
                </c:ext>
              </c:extLst>
              <c:f>Sheet1!$A$9:$A$11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Sheet1!$D$9:$D$12</c15:sqref>
                  </c15:fullRef>
                </c:ext>
              </c:extLst>
              <c:f>Sheet1!$D$9:$D$11</c:f>
              <c:numCache>
                <c:formatCode>_("$"* #,##0_);_("$"* \(#,##0\);_("$"* "-"??_);_(@_)</c:formatCode>
                <c:ptCount val="3"/>
                <c:pt idx="0">
                  <c:v>67141.259999999587</c:v>
                </c:pt>
                <c:pt idx="1">
                  <c:v>19013.140000000047</c:v>
                </c:pt>
                <c:pt idx="2">
                  <c:v>143902.85000000146</c:v>
                </c:pt>
              </c:numCache>
            </c:numRef>
          </c:val>
        </c:ser>
        <c:dLbls>
          <c:dLblPos val="outEnd"/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328494192"/>
        <c:axId val="-328493104"/>
        <c:extLst>
          <c:ext xmlns:c15="http://schemas.microsoft.com/office/drawing/2012/chart" uri="{02D57815-91ED-43cb-92C2-25804820EDAC}">
            <c15:filteredBar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Sheet1!$E$8</c15:sqref>
                        </c15:formulaRef>
                      </c:ext>
                    </c:extLst>
                    <c:strCache>
                      <c:ptCount val="1"/>
                      <c:pt idx="0">
                        <c:v>Grand Total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ullRef>
                          <c15:sqref>Sheet1!$A$9:$A$12</c15:sqref>
                        </c15:fullRef>
                        <c15:formulaRef>
                          <c15:sqref>Sheet1!$A$9:$A$11</c15:sqref>
                        </c15:formulaRef>
                      </c:ext>
                    </c:extLst>
                    <c:strCache>
                      <c:ptCount val="3"/>
                      <c:pt idx="0">
                        <c:v>Afternoon</c:v>
                      </c:pt>
                      <c:pt idx="1">
                        <c:v>Evening</c:v>
                      </c:pt>
                      <c:pt idx="2">
                        <c:v>Morning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ullRef>
                          <c15:sqref>Sheet1!$E$9:$E$12</c15:sqref>
                        </c15:fullRef>
                        <c15:formulaRef>
                          <c15:sqref>Sheet1!$E$9:$E$11</c15:sqref>
                        </c15:formulaRef>
                      </c:ext>
                    </c:extLst>
                    <c:numCache>
                      <c:formatCode>_("$"* #,##0_);_("$"* \(#,##0\);_("$"* "-"??_);_(@_)</c:formatCode>
                      <c:ptCount val="3"/>
                      <c:pt idx="0">
                        <c:v>204720.82999999856</c:v>
                      </c:pt>
                      <c:pt idx="1">
                        <c:v>105802.82999999975</c:v>
                      </c:pt>
                      <c:pt idx="2">
                        <c:v>388288.6700000019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-328494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328493104"/>
        <c:crosses val="autoZero"/>
        <c:auto val="1"/>
        <c:lblAlgn val="ctr"/>
        <c:lblOffset val="100"/>
        <c:noMultiLvlLbl val="0"/>
      </c:catAx>
      <c:valAx>
        <c:axId val="-3284931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&quot;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3284941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Total</a:t>
            </a:r>
            <a:r>
              <a:rPr lang="en-US" baseline="0" dirty="0" smtClean="0"/>
              <a:t> number of transactions according to the products sold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Sheet1!$B$7</c:f>
              <c:strCache>
                <c:ptCount val="1"/>
                <c:pt idx="0">
                  <c:v>Sun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extLst>
                <c:ext xmlns:c15="http://schemas.microsoft.com/office/drawing/2012/chart" uri="{02D57815-91ED-43cb-92C2-25804820EDAC}">
                  <c15:fullRef>
                    <c15:sqref>Sheet1!$A$8:$A$17</c15:sqref>
                  </c15:fullRef>
                </c:ext>
              </c:extLst>
              <c:f>Sheet1!$A$8:$A$16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Sheet1!$B$8:$B$17</c15:sqref>
                  </c15:fullRef>
                </c:ext>
              </c:extLst>
              <c:f>Sheet1!$B$8:$B$16</c:f>
              <c:numCache>
                <c:formatCode>General</c:formatCode>
                <c:ptCount val="9"/>
                <c:pt idx="0">
                  <c:v>2574</c:v>
                </c:pt>
                <c:pt idx="1">
                  <c:v>109</c:v>
                </c:pt>
                <c:pt idx="2">
                  <c:v>6455</c:v>
                </c:pt>
                <c:pt idx="3">
                  <c:v>244</c:v>
                </c:pt>
                <c:pt idx="4">
                  <c:v>1279</c:v>
                </c:pt>
                <c:pt idx="5">
                  <c:v>699</c:v>
                </c:pt>
                <c:pt idx="6">
                  <c:v>172</c:v>
                </c:pt>
                <c:pt idx="7">
                  <c:v>79</c:v>
                </c:pt>
                <c:pt idx="8">
                  <c:v>4977</c:v>
                </c:pt>
              </c:numCache>
            </c:numRef>
          </c:val>
        </c:ser>
        <c:ser>
          <c:idx val="1"/>
          <c:order val="1"/>
          <c:tx>
            <c:strRef>
              <c:f>Sheet1!$C$7</c:f>
              <c:strCache>
                <c:ptCount val="1"/>
                <c:pt idx="0">
                  <c:v>Mon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extLst>
                <c:ext xmlns:c15="http://schemas.microsoft.com/office/drawing/2012/chart" uri="{02D57815-91ED-43cb-92C2-25804820EDAC}">
                  <c15:fullRef>
                    <c15:sqref>Sheet1!$A$8:$A$17</c15:sqref>
                  </c15:fullRef>
                </c:ext>
              </c:extLst>
              <c:f>Sheet1!$A$8:$A$16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Sheet1!$C$8:$C$17</c15:sqref>
                  </c15:fullRef>
                </c:ext>
              </c:extLst>
              <c:f>Sheet1!$C$8:$C$16</c:f>
              <c:numCache>
                <c:formatCode>General</c:formatCode>
                <c:ptCount val="9"/>
                <c:pt idx="0">
                  <c:v>2704</c:v>
                </c:pt>
                <c:pt idx="1">
                  <c:v>87</c:v>
                </c:pt>
                <c:pt idx="2">
                  <c:v>6560</c:v>
                </c:pt>
                <c:pt idx="3">
                  <c:v>235</c:v>
                </c:pt>
                <c:pt idx="4">
                  <c:v>1304</c:v>
                </c:pt>
                <c:pt idx="5">
                  <c:v>701</c:v>
                </c:pt>
                <c:pt idx="6">
                  <c:v>156</c:v>
                </c:pt>
                <c:pt idx="7">
                  <c:v>60</c:v>
                </c:pt>
                <c:pt idx="8">
                  <c:v>5115</c:v>
                </c:pt>
              </c:numCache>
            </c:numRef>
          </c:val>
        </c:ser>
        <c:ser>
          <c:idx val="2"/>
          <c:order val="2"/>
          <c:tx>
            <c:strRef>
              <c:f>Sheet1!$D$7</c:f>
              <c:strCache>
                <c:ptCount val="1"/>
                <c:pt idx="0">
                  <c:v>Tue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extLst>
                <c:ext xmlns:c15="http://schemas.microsoft.com/office/drawing/2012/chart" uri="{02D57815-91ED-43cb-92C2-25804820EDAC}">
                  <c15:fullRef>
                    <c15:sqref>Sheet1!$A$8:$A$17</c15:sqref>
                  </c15:fullRef>
                </c:ext>
              </c:extLst>
              <c:f>Sheet1!$A$8:$A$16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Sheet1!$D$8:$D$17</c15:sqref>
                  </c15:fullRef>
                </c:ext>
              </c:extLst>
              <c:f>Sheet1!$D$8:$D$16</c:f>
              <c:numCache>
                <c:formatCode>General</c:formatCode>
                <c:ptCount val="9"/>
                <c:pt idx="0">
                  <c:v>2559</c:v>
                </c:pt>
                <c:pt idx="1">
                  <c:v>110</c:v>
                </c:pt>
                <c:pt idx="2">
                  <c:v>6394</c:v>
                </c:pt>
                <c:pt idx="3">
                  <c:v>252</c:v>
                </c:pt>
                <c:pt idx="4">
                  <c:v>1224</c:v>
                </c:pt>
                <c:pt idx="5">
                  <c:v>756</c:v>
                </c:pt>
                <c:pt idx="6">
                  <c:v>168</c:v>
                </c:pt>
                <c:pt idx="7">
                  <c:v>70</c:v>
                </c:pt>
                <c:pt idx="8">
                  <c:v>4869</c:v>
                </c:pt>
              </c:numCache>
            </c:numRef>
          </c:val>
        </c:ser>
        <c:ser>
          <c:idx val="3"/>
          <c:order val="3"/>
          <c:tx>
            <c:strRef>
              <c:f>Sheet1!$E$7</c:f>
              <c:strCache>
                <c:ptCount val="1"/>
                <c:pt idx="0">
                  <c:v>Wed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extLst>
                <c:ext xmlns:c15="http://schemas.microsoft.com/office/drawing/2012/chart" uri="{02D57815-91ED-43cb-92C2-25804820EDAC}">
                  <c15:fullRef>
                    <c15:sqref>Sheet1!$A$8:$A$17</c15:sqref>
                  </c15:fullRef>
                </c:ext>
              </c:extLst>
              <c:f>Sheet1!$A$8:$A$16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Sheet1!$E$8:$E$17</c15:sqref>
                  </c15:fullRef>
                </c:ext>
              </c:extLst>
              <c:f>Sheet1!$E$8:$E$16</c:f>
              <c:numCache>
                <c:formatCode>General</c:formatCode>
                <c:ptCount val="9"/>
                <c:pt idx="0">
                  <c:v>2595</c:v>
                </c:pt>
                <c:pt idx="1">
                  <c:v>114</c:v>
                </c:pt>
                <c:pt idx="2">
                  <c:v>6516</c:v>
                </c:pt>
                <c:pt idx="3">
                  <c:v>253</c:v>
                </c:pt>
                <c:pt idx="4">
                  <c:v>1278</c:v>
                </c:pt>
                <c:pt idx="5">
                  <c:v>718</c:v>
                </c:pt>
                <c:pt idx="6">
                  <c:v>171</c:v>
                </c:pt>
                <c:pt idx="7">
                  <c:v>69</c:v>
                </c:pt>
                <c:pt idx="8">
                  <c:v>5076</c:v>
                </c:pt>
              </c:numCache>
            </c:numRef>
          </c:val>
        </c:ser>
        <c:ser>
          <c:idx val="4"/>
          <c:order val="4"/>
          <c:tx>
            <c:strRef>
              <c:f>Sheet1!$F$7</c:f>
              <c:strCache>
                <c:ptCount val="1"/>
                <c:pt idx="0">
                  <c:v>Thu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extLst>
                <c:ext xmlns:c15="http://schemas.microsoft.com/office/drawing/2012/chart" uri="{02D57815-91ED-43cb-92C2-25804820EDAC}">
                  <c15:fullRef>
                    <c15:sqref>Sheet1!$A$8:$A$17</c15:sqref>
                  </c15:fullRef>
                </c:ext>
              </c:extLst>
              <c:f>Sheet1!$A$8:$A$16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Sheet1!$F$8:$F$17</c15:sqref>
                  </c15:fullRef>
                </c:ext>
              </c:extLst>
              <c:f>Sheet1!$F$8:$F$16</c:f>
              <c:numCache>
                <c:formatCode>General</c:formatCode>
                <c:ptCount val="9"/>
                <c:pt idx="0">
                  <c:v>2664</c:v>
                </c:pt>
                <c:pt idx="1">
                  <c:v>84</c:v>
                </c:pt>
                <c:pt idx="2">
                  <c:v>6581</c:v>
                </c:pt>
                <c:pt idx="3">
                  <c:v>221</c:v>
                </c:pt>
                <c:pt idx="4">
                  <c:v>1334</c:v>
                </c:pt>
                <c:pt idx="5">
                  <c:v>657</c:v>
                </c:pt>
                <c:pt idx="6">
                  <c:v>169</c:v>
                </c:pt>
                <c:pt idx="7">
                  <c:v>77</c:v>
                </c:pt>
                <c:pt idx="8">
                  <c:v>5220</c:v>
                </c:pt>
              </c:numCache>
            </c:numRef>
          </c:val>
        </c:ser>
        <c:ser>
          <c:idx val="5"/>
          <c:order val="5"/>
          <c:tx>
            <c:strRef>
              <c:f>Sheet1!$G$7</c:f>
              <c:strCache>
                <c:ptCount val="1"/>
                <c:pt idx="0">
                  <c:v>Fri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extLst>
                <c:ext xmlns:c15="http://schemas.microsoft.com/office/drawing/2012/chart" uri="{02D57815-91ED-43cb-92C2-25804820EDAC}">
                  <c15:fullRef>
                    <c15:sqref>Sheet1!$A$8:$A$17</c15:sqref>
                  </c15:fullRef>
                </c:ext>
              </c:extLst>
              <c:f>Sheet1!$A$8:$A$16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Sheet1!$G$8:$G$17</c15:sqref>
                  </c15:fullRef>
                </c:ext>
              </c:extLst>
              <c:f>Sheet1!$G$8:$G$16</c:f>
              <c:numCache>
                <c:formatCode>General</c:formatCode>
                <c:ptCount val="9"/>
                <c:pt idx="0">
                  <c:v>2631</c:v>
                </c:pt>
                <c:pt idx="1">
                  <c:v>103</c:v>
                </c:pt>
                <c:pt idx="2">
                  <c:v>6624</c:v>
                </c:pt>
                <c:pt idx="3">
                  <c:v>248</c:v>
                </c:pt>
                <c:pt idx="4">
                  <c:v>1224</c:v>
                </c:pt>
                <c:pt idx="5">
                  <c:v>763</c:v>
                </c:pt>
                <c:pt idx="6">
                  <c:v>173</c:v>
                </c:pt>
                <c:pt idx="7">
                  <c:v>63</c:v>
                </c:pt>
                <c:pt idx="8">
                  <c:v>5034</c:v>
                </c:pt>
              </c:numCache>
            </c:numRef>
          </c:val>
        </c:ser>
        <c:ser>
          <c:idx val="6"/>
          <c:order val="6"/>
          <c:tx>
            <c:strRef>
              <c:f>Sheet1!$H$7</c:f>
              <c:strCache>
                <c:ptCount val="1"/>
                <c:pt idx="0">
                  <c:v>Sat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extLst>
                <c:ext xmlns:c15="http://schemas.microsoft.com/office/drawing/2012/chart" uri="{02D57815-91ED-43cb-92C2-25804820EDAC}">
                  <c15:fullRef>
                    <c15:sqref>Sheet1!$A$8:$A$17</c15:sqref>
                  </c15:fullRef>
                </c:ext>
              </c:extLst>
              <c:f>Sheet1!$A$8:$A$16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extLst>
                <c:ext xmlns:c15="http://schemas.microsoft.com/office/drawing/2012/chart" uri="{02D57815-91ED-43cb-92C2-25804820EDAC}">
                  <c15:fullRef>
                    <c15:sqref>Sheet1!$H$8:$H$17</c15:sqref>
                  </c15:fullRef>
                </c:ext>
              </c:extLst>
              <c:f>Sheet1!$H$8:$H$16</c:f>
              <c:numCache>
                <c:formatCode>General</c:formatCode>
                <c:ptCount val="9"/>
                <c:pt idx="0">
                  <c:v>2486</c:v>
                </c:pt>
                <c:pt idx="1">
                  <c:v>97</c:v>
                </c:pt>
                <c:pt idx="2">
                  <c:v>6208</c:v>
                </c:pt>
                <c:pt idx="3">
                  <c:v>235</c:v>
                </c:pt>
                <c:pt idx="4">
                  <c:v>1244</c:v>
                </c:pt>
                <c:pt idx="5">
                  <c:v>718</c:v>
                </c:pt>
                <c:pt idx="6">
                  <c:v>155</c:v>
                </c:pt>
                <c:pt idx="7">
                  <c:v>62</c:v>
                </c:pt>
                <c:pt idx="8">
                  <c:v>4787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-328481136"/>
        <c:axId val="-328480592"/>
      </c:barChart>
      <c:catAx>
        <c:axId val="-328481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328480592"/>
        <c:crosses val="autoZero"/>
        <c:auto val="1"/>
        <c:lblAlgn val="ctr"/>
        <c:lblOffset val="100"/>
        <c:noMultiLvlLbl val="0"/>
      </c:catAx>
      <c:valAx>
        <c:axId val="-3284805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32848113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coffee.xlsx]Revenue by hour of the day!PivotTable3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Revenue</a:t>
            </a:r>
            <a:r>
              <a:rPr lang="en-US" baseline="0" dirty="0" smtClean="0"/>
              <a:t> by hour of the day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</c:pivotFmt>
      <c:pivotFmt>
        <c:idx val="2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'Revenue by hour of the day'!$B$3:$B$4</c:f>
              <c:strCache>
                <c:ptCount val="1"/>
                <c:pt idx="0">
                  <c:v>Astoria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'Revenue by hour of the day'!$A$5:$A$20</c:f>
              <c:strCache>
                <c:ptCount val="15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</c:strCache>
            </c:strRef>
          </c:cat>
          <c:val>
            <c:numRef>
              <c:f>'Revenue by hour of the day'!$B$5:$B$20</c:f>
              <c:numCache>
                <c:formatCode>_("$"* #,##0_);_("$"* \(#,##0\);_("$"* "-"??_);_(@_)</c:formatCode>
                <c:ptCount val="15"/>
                <c:pt idx="1">
                  <c:v>3064</c:v>
                </c:pt>
                <c:pt idx="2">
                  <c:v>3671</c:v>
                </c:pt>
                <c:pt idx="3">
                  <c:v>3617</c:v>
                </c:pt>
                <c:pt idx="4">
                  <c:v>3700</c:v>
                </c:pt>
                <c:pt idx="5">
                  <c:v>2732</c:v>
                </c:pt>
                <c:pt idx="6">
                  <c:v>2684</c:v>
                </c:pt>
                <c:pt idx="7">
                  <c:v>2775</c:v>
                </c:pt>
                <c:pt idx="8">
                  <c:v>2673</c:v>
                </c:pt>
                <c:pt idx="9">
                  <c:v>2737</c:v>
                </c:pt>
                <c:pt idx="10">
                  <c:v>2892</c:v>
                </c:pt>
                <c:pt idx="11">
                  <c:v>2778</c:v>
                </c:pt>
                <c:pt idx="12">
                  <c:v>2821</c:v>
                </c:pt>
                <c:pt idx="13">
                  <c:v>2829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'Revenue by hour of the day'!$C$3:$C$4</c:f>
              <c:strCache>
                <c:ptCount val="1"/>
                <c:pt idx="0">
                  <c:v>Hell's Kitchen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'Revenue by hour of the day'!$A$5:$A$20</c:f>
              <c:strCache>
                <c:ptCount val="15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</c:strCache>
            </c:strRef>
          </c:cat>
          <c:val>
            <c:numRef>
              <c:f>'Revenue by hour of the day'!$C$5:$C$20</c:f>
              <c:numCache>
                <c:formatCode>_("$"* #,##0_);_("$"* \(#,##0\);_("$"* "-"??_);_(@_)</c:formatCode>
                <c:ptCount val="15"/>
                <c:pt idx="0">
                  <c:v>1435</c:v>
                </c:pt>
                <c:pt idx="1">
                  <c:v>2535</c:v>
                </c:pt>
                <c:pt idx="2">
                  <c:v>4794</c:v>
                </c:pt>
                <c:pt idx="3">
                  <c:v>4691</c:v>
                </c:pt>
                <c:pt idx="4">
                  <c:v>4805</c:v>
                </c:pt>
                <c:pt idx="5">
                  <c:v>2953</c:v>
                </c:pt>
                <c:pt idx="6">
                  <c:v>2129</c:v>
                </c:pt>
                <c:pt idx="7">
                  <c:v>2296</c:v>
                </c:pt>
                <c:pt idx="8">
                  <c:v>2326</c:v>
                </c:pt>
                <c:pt idx="9">
                  <c:v>2172</c:v>
                </c:pt>
                <c:pt idx="10">
                  <c:v>2292</c:v>
                </c:pt>
                <c:pt idx="11">
                  <c:v>2386</c:v>
                </c:pt>
                <c:pt idx="12">
                  <c:v>2225</c:v>
                </c:pt>
                <c:pt idx="13">
                  <c:v>2092</c:v>
                </c:pt>
                <c:pt idx="14">
                  <c:v>475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'Revenue by hour of the day'!$D$3:$D$4</c:f>
              <c:strCache>
                <c:ptCount val="1"/>
                <c:pt idx="0">
                  <c:v>Lower Manhattan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'Revenue by hour of the day'!$A$5:$A$20</c:f>
              <c:strCache>
                <c:ptCount val="15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</c:strCache>
            </c:strRef>
          </c:cat>
          <c:val>
            <c:numRef>
              <c:f>'Revenue by hour of the day'!$D$5:$D$20</c:f>
              <c:numCache>
                <c:formatCode>_("$"* #,##0_);_("$"* \(#,##0\);_("$"* "-"??_);_(@_)</c:formatCode>
                <c:ptCount val="15"/>
                <c:pt idx="0">
                  <c:v>2190</c:v>
                </c:pt>
                <c:pt idx="1">
                  <c:v>4337</c:v>
                </c:pt>
                <c:pt idx="2">
                  <c:v>4317</c:v>
                </c:pt>
                <c:pt idx="3">
                  <c:v>4418</c:v>
                </c:pt>
                <c:pt idx="4">
                  <c:v>4550</c:v>
                </c:pt>
                <c:pt idx="5">
                  <c:v>2411</c:v>
                </c:pt>
                <c:pt idx="6">
                  <c:v>2438</c:v>
                </c:pt>
                <c:pt idx="7">
                  <c:v>2224</c:v>
                </c:pt>
                <c:pt idx="8">
                  <c:v>2423</c:v>
                </c:pt>
                <c:pt idx="9">
                  <c:v>2592</c:v>
                </c:pt>
                <c:pt idx="10">
                  <c:v>2431</c:v>
                </c:pt>
                <c:pt idx="11">
                  <c:v>2157</c:v>
                </c:pt>
                <c:pt idx="12">
                  <c:v>1304</c:v>
                </c:pt>
                <c:pt idx="13">
                  <c:v>120</c:v>
                </c:pt>
                <c:pt idx="14">
                  <c:v>73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328489296"/>
        <c:axId val="-328488752"/>
      </c:lineChart>
      <c:catAx>
        <c:axId val="-328489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328488752"/>
        <c:crosses val="autoZero"/>
        <c:auto val="1"/>
        <c:lblAlgn val="ctr"/>
        <c:lblOffset val="100"/>
        <c:noMultiLvlLbl val="0"/>
      </c:catAx>
      <c:valAx>
        <c:axId val="-328488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&quot;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328489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04ED6-3820-42C9-825E-20A1642FE99A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D70C0A-ADBC-4FD6-AE08-B0C6ACCB06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041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839DC-465F-400C-8319-A593A6E0E2E5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2B402-211D-4838-99C2-50D773510154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13789"/>
            <a:ext cx="3303270" cy="184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896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839DC-465F-400C-8319-A593A6E0E2E5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2B402-211D-4838-99C2-50D7735101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323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839DC-465F-400C-8319-A593A6E0E2E5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2B402-211D-4838-99C2-50D7735101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1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839DC-465F-400C-8319-A593A6E0E2E5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2B402-211D-4838-99C2-50D7735101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102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839DC-465F-400C-8319-A593A6E0E2E5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2B402-211D-4838-99C2-50D7735101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841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839DC-465F-400C-8319-A593A6E0E2E5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2B402-211D-4838-99C2-50D7735101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471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839DC-465F-400C-8319-A593A6E0E2E5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2B402-211D-4838-99C2-50D7735101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159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839DC-465F-400C-8319-A593A6E0E2E5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2B402-211D-4838-99C2-50D7735101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87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839DC-465F-400C-8319-A593A6E0E2E5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2B402-211D-4838-99C2-50D7735101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178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839DC-465F-400C-8319-A593A6E0E2E5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2B402-211D-4838-99C2-50D7735101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5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839DC-465F-400C-8319-A593A6E0E2E5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2B402-211D-4838-99C2-50D7735101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573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D839DC-465F-400C-8319-A593A6E0E2E5}" type="datetimeFigureOut">
              <a:rPr lang="en-US" smtClean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C2B402-211D-4838-99C2-50D7735101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477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4227" y="0"/>
            <a:ext cx="9144000" cy="2387600"/>
          </a:xfrm>
        </p:spPr>
        <p:txBody>
          <a:bodyPr/>
          <a:lstStyle/>
          <a:p>
            <a:r>
              <a:rPr lang="en-US" dirty="0" smtClean="0"/>
              <a:t>Bright coffee Analysis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0956" y="2387600"/>
            <a:ext cx="5577840" cy="33121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17373" y="6130636"/>
            <a:ext cx="5434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Presented by Nothando </a:t>
            </a:r>
            <a:r>
              <a:rPr lang="en-US" dirty="0" err="1" smtClean="0"/>
              <a:t>Mkhomazi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435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-18184" y="0"/>
            <a:ext cx="3932237" cy="1600200"/>
          </a:xfrm>
        </p:spPr>
        <p:txBody>
          <a:bodyPr/>
          <a:lstStyle/>
          <a:p>
            <a:r>
              <a:rPr lang="en-US" dirty="0" smtClean="0"/>
              <a:t>Analysis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8588211"/>
              </p:ext>
            </p:extLst>
          </p:nvPr>
        </p:nvGraphicFramePr>
        <p:xfrm>
          <a:off x="4197927" y="477983"/>
          <a:ext cx="7157461" cy="53830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half" idx="2"/>
          </p:nvPr>
        </p:nvSpPr>
        <p:spPr>
          <a:xfrm>
            <a:off x="-18185" y="1808018"/>
            <a:ext cx="3932237" cy="3811588"/>
          </a:xfrm>
        </p:spPr>
        <p:txBody>
          <a:bodyPr/>
          <a:lstStyle/>
          <a:p>
            <a:r>
              <a:rPr lang="en-US" dirty="0" smtClean="0"/>
              <a:t>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most sold product is coffee, followed by tea.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least sold products are packaged chocolate and flavors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Discontinue the sale of packaged chocolate.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Create promotions for the least sold products such as flavors, branded and loose tea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747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Analysis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5085184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During winter, the sales peak up as since on the month of May and June.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January and February interchange with  the month with least sales.</a:t>
            </a:r>
          </a:p>
          <a:p>
            <a:r>
              <a:rPr lang="en-US" dirty="0" smtClean="0"/>
              <a:t>Recommendations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Run discounts during January and February to increase sales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Push </a:t>
            </a:r>
            <a:r>
              <a:rPr lang="en-US" dirty="0" err="1" smtClean="0"/>
              <a:t>afforatble</a:t>
            </a:r>
            <a:r>
              <a:rPr lang="en-US" dirty="0" smtClean="0"/>
              <a:t> items to attract price sensitive customers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Add breakfast </a:t>
            </a:r>
            <a:r>
              <a:rPr lang="en-US" dirty="0" err="1" smtClean="0"/>
              <a:t>combobs</a:t>
            </a:r>
            <a:r>
              <a:rPr lang="en-US" dirty="0" smtClean="0"/>
              <a:t> to increase foot traffic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442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9257302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 Placeholder 8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Lower Manhattan is the busiest store compared to the other stores.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Consumers buy the products in the morning.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Other stores show steady sales and will need strategies o increase revenue. </a:t>
            </a:r>
          </a:p>
          <a:p>
            <a:r>
              <a:rPr lang="en-US" dirty="0" smtClean="0"/>
              <a:t>Recommendations</a:t>
            </a:r>
          </a:p>
          <a:p>
            <a:r>
              <a:rPr lang="en-US" dirty="0" smtClean="0"/>
              <a:t>Improve in store layout and product visibility for Astoria and Hell’s kitchen.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392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Insights</a:t>
            </a:r>
            <a:endParaRPr lang="en-US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5254942"/>
              </p:ext>
            </p:extLst>
          </p:nvPr>
        </p:nvGraphicFramePr>
        <p:xfrm>
          <a:off x="5183188" y="228601"/>
          <a:ext cx="6797530" cy="5632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 Placeholder 11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Coffee has the highest number of transactions leading by 6624, followed by tea with 5115. </a:t>
            </a:r>
          </a:p>
          <a:p>
            <a:r>
              <a:rPr lang="en-US" dirty="0" smtClean="0"/>
              <a:t>Bakery has moderate transactions, it can improve by providing breakfast combos. </a:t>
            </a:r>
          </a:p>
          <a:p>
            <a:r>
              <a:rPr lang="en-US" dirty="0" smtClean="0"/>
              <a:t>In order to increase the number of transactions for branded and loose tea, we offer get free muffins when you buy loose tea or branded</a:t>
            </a:r>
          </a:p>
        </p:txBody>
      </p:sp>
    </p:spTree>
    <p:extLst>
      <p:ext uri="{BB962C8B-B14F-4D97-AF65-F5344CB8AC3E}">
        <p14:creationId xmlns:p14="http://schemas.microsoft.com/office/powerpoint/2010/main" val="3847895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Insights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5497800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 Placeholder 10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The morning (06:00-11:59) for all three stores produces the highest revenue. </a:t>
            </a:r>
          </a:p>
          <a:p>
            <a:r>
              <a:rPr lang="en-US" dirty="0" smtClean="0"/>
              <a:t>Afternoon and the evening shows moderate sales. </a:t>
            </a:r>
          </a:p>
          <a:p>
            <a:r>
              <a:rPr lang="en-US" dirty="0" smtClean="0"/>
              <a:t>From 19:00, the sales start to drop, and around 20:00 which is the night contributes zero sales</a:t>
            </a:r>
          </a:p>
        </p:txBody>
      </p:sp>
    </p:spTree>
    <p:extLst>
      <p:ext uri="{BB962C8B-B14F-4D97-AF65-F5344CB8AC3E}">
        <p14:creationId xmlns:p14="http://schemas.microsoft.com/office/powerpoint/2010/main" val="237136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440</TotalTime>
  <Words>294</Words>
  <Application>Microsoft Office PowerPoint</Application>
  <PresentationFormat>Widescreen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Bright coffee Analysis</vt:lpstr>
      <vt:lpstr>Analysis</vt:lpstr>
      <vt:lpstr>Analysis</vt:lpstr>
      <vt:lpstr>PowerPoint Presentation</vt:lpstr>
      <vt:lpstr>Insights</vt:lpstr>
      <vt:lpstr>Insights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Nothando</dc:creator>
  <cp:lastModifiedBy>Nothando</cp:lastModifiedBy>
  <cp:revision>22</cp:revision>
  <dcterms:created xsi:type="dcterms:W3CDTF">2025-11-04T06:27:49Z</dcterms:created>
  <dcterms:modified xsi:type="dcterms:W3CDTF">2025-11-17T11:20:47Z</dcterms:modified>
</cp:coreProperties>
</file>